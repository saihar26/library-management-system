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3" autoAdjust="0"/>
    <p:restoredTop sz="94660"/>
  </p:normalViewPr>
  <p:slideViewPr>
    <p:cSldViewPr snapToGrid="0">
      <p:cViewPr varScale="1">
        <p:scale>
          <a:sx n="67" d="100"/>
          <a:sy n="67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B3D1-3B01-8D32-2163-402629435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AE59A-7A9C-F023-EB6E-5012B8894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5A7AA-9714-5F6A-FFDF-89C7C6D8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CFC6B-2272-20B1-BA41-0943E180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14F41-A247-37D8-953B-0E1A3BC2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45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ABFE-C938-14F7-6186-06763F3A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40A3-3530-968A-D0AD-584EA03B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8934A-8250-00FC-CD5C-9AC4590D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A3A91-459E-D9D2-0419-B43EE044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AF83D-F9F3-8985-AD9B-3548F463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98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2775-2B8A-FD45-67B7-4B0F0726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B389C-B827-6556-A75D-8DC1D726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EC484-2F0F-828F-3A13-CE7CBCC1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5B252-0DA7-05DA-9938-98FE43A9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45044-38DD-A62E-A2D1-E96D0203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37CF-D729-F226-4685-EAB3548C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D10CA-D297-A81F-9F2D-8B9E3346A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80E59-47BE-EBC7-0855-632624847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09F06-EFB7-FC6C-22BD-E86BDE87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4D990-7072-D0AA-D6A9-89EF054B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40CCF-465F-A1AA-648E-2E0C9CC9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53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DDF7-5BF2-26D5-578C-A7C299D1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FA03C-C57F-FF81-DEC6-5722C9B89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74D8B-071F-26F6-D964-2BED76A4A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A122F-B81C-8ABC-FEE9-36F4E16E1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E65E0-9D38-7FA8-A766-FD64CA1E4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D042A-5805-AB2E-1F1D-63B85C43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B7734D-76A6-3C01-62F1-BF0E2125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D2ED0-2A37-4E11-D786-B03C53C0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15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FCCB-4E15-0EA6-891C-D3DF91F3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2700C-C8B8-D7F1-8509-0509F7A5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74527-AD21-EF1C-FC2A-F1EACDA2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B49E4-D338-C9B3-D45D-19351867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60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1127E-2EC0-CD02-13E6-F6D61F65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A5BDE-E54E-5DA0-45A4-EA6C7E77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0EA07-D0FC-0CD7-DCA9-9B7B8BAA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10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8684-2469-B438-AAA9-50F89DE2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E349-2E53-8369-3014-B5BB0C9CD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915E6-08BB-44C0-33F8-5746268B8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410BB-87FD-FB04-A3AB-B0978411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9BA8E-0897-FAF9-3AE7-743F3389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300C4-5DF6-D128-FA24-2D3AE6B7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0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A969-AA65-D1B3-DAAE-3671FA76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76AFE-A6D5-83FD-FA95-D3AF316B47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7AEE2-95C0-27EF-75FC-7245C19D2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9EF7F-6E35-0841-DF0D-E50FC36A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41E13-4EEC-BBA3-25BF-26BB6E8C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9CDD4-D927-E5A3-5594-E41D5B5B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3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E555-3FF1-C7E4-0C1C-6ADBEEFF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F42B3-7561-6A75-E616-C47ED5236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D8535-AE8A-53D1-094D-6C9F84068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AC4E0-5212-6284-CFAF-D0F13C5D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C7F64-1963-9AEC-A4A9-F6A84050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5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C12D0-F22E-4AD6-AA4F-CBB9B920D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ED12F-EE5B-94C7-D878-E0C66DA62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EC06-0082-5AF3-480F-2E14B6CE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2F5EB-1C78-61B7-6CB2-6D24E670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3048-9A79-88D8-F81B-5C82AF9B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03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5B9F3-064F-3B0C-8057-C34A8755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A348A-3CD6-D1A5-AC10-F23C7CBBD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C36BA-F1AF-F47D-2045-A8FA68D7BE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A6A75-D387-489D-884D-B8033AA400C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C070-8EA1-4300-5359-2B43D44B4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8CAEB-3048-89FA-5843-AD97C140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EA103-2075-48ED-9015-7CDAE446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08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E4CE-5E2E-7FC3-C908-1E89C901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155" y="115836"/>
            <a:ext cx="9753600" cy="6314461"/>
          </a:xfrm>
        </p:spPr>
        <p:txBody>
          <a:bodyPr>
            <a:normAutofit/>
          </a:bodyPr>
          <a:lstStyle/>
          <a:p>
            <a:br>
              <a:rPr lang="en-US" sz="4400" spc="-10" dirty="0">
                <a:solidFill>
                  <a:srgbClr val="000000"/>
                </a:solidFill>
              </a:rPr>
            </a:br>
            <a:endParaRPr lang="en-IN" sz="4400" dirty="0"/>
          </a:p>
        </p:txBody>
      </p:sp>
      <p:sp>
        <p:nvSpPr>
          <p:cNvPr id="4" name="AutoShape 2" descr="AGEC 2026 - Aditya University">
            <a:extLst>
              <a:ext uri="{FF2B5EF4-FFF2-40B4-BE49-F238E27FC236}">
                <a16:creationId xmlns:a16="http://schemas.microsoft.com/office/drawing/2014/main" id="{2C62F6A5-3DD9-CD0F-3768-4724E90C7C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04914C51-2376-E81D-65E3-918CDF1F76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8169" y="115836"/>
            <a:ext cx="4610862" cy="628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1BAE57-E0DD-456D-9141-A25D3EC7BD02}"/>
              </a:ext>
            </a:extLst>
          </p:cNvPr>
          <p:cNvSpPr txBox="1"/>
          <p:nvPr/>
        </p:nvSpPr>
        <p:spPr>
          <a:xfrm>
            <a:off x="1435510" y="1061884"/>
            <a:ext cx="8426246" cy="523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933735"/>
                </a:solidFill>
              </a:rPr>
              <a:t>       </a:t>
            </a:r>
            <a:r>
              <a:rPr lang="en-US" sz="3600" dirty="0">
                <a:solidFill>
                  <a:srgbClr val="933735"/>
                </a:solidFill>
              </a:rPr>
              <a:t>Department</a:t>
            </a:r>
            <a:r>
              <a:rPr lang="en-US" sz="3600" spc="-120" dirty="0">
                <a:solidFill>
                  <a:srgbClr val="933735"/>
                </a:solidFill>
              </a:rPr>
              <a:t> </a:t>
            </a:r>
            <a:r>
              <a:rPr lang="en-US" sz="3600" dirty="0">
                <a:solidFill>
                  <a:srgbClr val="933735"/>
                </a:solidFill>
              </a:rPr>
              <a:t>of</a:t>
            </a:r>
            <a:r>
              <a:rPr lang="en-US" sz="3600" spc="-105" dirty="0">
                <a:solidFill>
                  <a:srgbClr val="933735"/>
                </a:solidFill>
              </a:rPr>
              <a:t> </a:t>
            </a:r>
            <a:r>
              <a:rPr lang="en-US" sz="3600" dirty="0">
                <a:solidFill>
                  <a:srgbClr val="933735"/>
                </a:solidFill>
              </a:rPr>
              <a:t>Information</a:t>
            </a:r>
            <a:r>
              <a:rPr lang="en-US" sz="3600" spc="-100" dirty="0">
                <a:solidFill>
                  <a:srgbClr val="933735"/>
                </a:solidFill>
              </a:rPr>
              <a:t> </a:t>
            </a:r>
            <a:r>
              <a:rPr lang="en-US" sz="3600" spc="-10" dirty="0">
                <a:solidFill>
                  <a:srgbClr val="933735"/>
                </a:solidFill>
              </a:rPr>
              <a:t>Technology</a:t>
            </a:r>
            <a:br>
              <a:rPr lang="en-US" sz="3200" spc="-10" dirty="0">
                <a:solidFill>
                  <a:srgbClr val="933735"/>
                </a:solidFill>
              </a:rPr>
            </a:br>
            <a:r>
              <a:rPr lang="en-US" sz="3200" spc="-10" dirty="0">
                <a:solidFill>
                  <a:srgbClr val="000000"/>
                </a:solidFill>
              </a:rPr>
              <a:t>                             </a:t>
            </a:r>
            <a:r>
              <a:rPr lang="en-US" sz="3600" spc="-10" dirty="0">
                <a:solidFill>
                  <a:srgbClr val="000000"/>
                </a:solidFill>
              </a:rPr>
              <a:t>AMSD  PROJECT</a:t>
            </a:r>
          </a:p>
          <a:p>
            <a:pPr marL="635" algn="ctr">
              <a:spcBef>
                <a:spcPts val="1110"/>
              </a:spcBef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SECOND REVIEW</a:t>
            </a:r>
          </a:p>
          <a:p>
            <a:pPr marL="635" algn="ctr">
              <a:lnSpc>
                <a:spcPct val="100000"/>
              </a:lnSpc>
              <a:spcBef>
                <a:spcPts val="1110"/>
              </a:spcBef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ONLINE LIBRARY  MANAGEMENT</a:t>
            </a:r>
            <a:r>
              <a:rPr lang="en-US" sz="2800" spc="-25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 </a:t>
            </a:r>
            <a:r>
              <a:rPr lang="en-US" sz="2800" spc="-10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PORTAL</a:t>
            </a:r>
            <a:endParaRPr lang="en-US" sz="3200" dirty="0">
              <a:solidFill>
                <a:srgbClr val="FF0000"/>
              </a:solidFill>
              <a:latin typeface="Palatino Linotype"/>
              <a:cs typeface="Palatino Linotype"/>
            </a:endParaRPr>
          </a:p>
          <a:p>
            <a:r>
              <a:rPr lang="en-US" sz="3200" dirty="0"/>
              <a:t>          </a:t>
            </a:r>
            <a:r>
              <a:rPr lang="en-US" sz="2400" dirty="0"/>
              <a:t>Team Members:</a:t>
            </a:r>
          </a:p>
          <a:p>
            <a:r>
              <a:rPr lang="en-US" sz="2400" dirty="0"/>
              <a:t>              SAI HARINI.S – 24B11IT097</a:t>
            </a:r>
            <a:br>
              <a:rPr lang="en-US" sz="2400" dirty="0"/>
            </a:br>
            <a:r>
              <a:rPr lang="en-US" sz="2400" dirty="0"/>
              <a:t>              SANJANA.S – 24B11IT093</a:t>
            </a:r>
            <a:br>
              <a:rPr lang="en-US" sz="2400" dirty="0"/>
            </a:br>
            <a:r>
              <a:rPr lang="en-US" sz="2400" dirty="0"/>
              <a:t>              RESHMA PRAVALLIKA.T – 24B11IT102</a:t>
            </a:r>
            <a:br>
              <a:rPr lang="en-US" sz="2400" dirty="0"/>
            </a:br>
            <a:r>
              <a:rPr lang="en-US" sz="2400" dirty="0"/>
              <a:t>              NAVEEN KUMAR.D – 25B11IT003</a:t>
            </a:r>
          </a:p>
          <a:p>
            <a:r>
              <a:rPr lang="en-US" sz="2400" dirty="0"/>
              <a:t>              Guide Name:</a:t>
            </a:r>
            <a:br>
              <a:rPr lang="en-US" sz="2400" dirty="0"/>
            </a:br>
            <a:r>
              <a:rPr lang="en-US" sz="2400" dirty="0"/>
              <a:t>              </a:t>
            </a:r>
            <a:r>
              <a:rPr lang="en-IN" sz="2400" dirty="0"/>
              <a:t>Mrs. Ch. Sri </a:t>
            </a:r>
            <a:r>
              <a:rPr lang="en-IN" sz="2400" dirty="0" err="1"/>
              <a:t>Divya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405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>
            <a:extLst>
              <a:ext uri="{FF2B5EF4-FFF2-40B4-BE49-F238E27FC236}">
                <a16:creationId xmlns:a16="http://schemas.microsoft.com/office/drawing/2014/main" id="{D5021327-23D5-2A9A-422B-BCE1410A9108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dirty="0"/>
              <a:t>            </a:t>
            </a:r>
            <a:r>
              <a:rPr lang="en-IN" sz="2800" dirty="0"/>
              <a:t>PROBLEM STATEMENT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DEA1A-A8F7-BCC4-E5CE-0C6DF52F6CA2}"/>
              </a:ext>
            </a:extLst>
          </p:cNvPr>
          <p:cNvSpPr txBox="1"/>
          <p:nvPr/>
        </p:nvSpPr>
        <p:spPr>
          <a:xfrm>
            <a:off x="894735" y="943897"/>
            <a:ext cx="8976852" cy="493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/>
              <a:t>Problem</a:t>
            </a:r>
            <a:r>
              <a:rPr lang="en-US" b="1" u="sng" dirty="0"/>
              <a:t>:</a:t>
            </a:r>
            <a:br>
              <a:rPr lang="en-US" dirty="0"/>
            </a:br>
            <a:r>
              <a:rPr lang="en-US" sz="2400" dirty="0"/>
              <a:t>Traditional library systems rely on manual record-keeping, making book management inefficient and error-prone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sz="2400" b="1" u="sng" dirty="0"/>
              <a:t>Why Important:</a:t>
            </a:r>
            <a:endParaRPr lang="en-US" sz="24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Time-consuming book issue/return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Manual record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real-time availability check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Difficulty tracking due dates</a:t>
            </a:r>
          </a:p>
          <a:p>
            <a:pPr>
              <a:buNone/>
            </a:pPr>
            <a:r>
              <a:rPr lang="en-US" sz="2400" b="1" u="sng" dirty="0"/>
              <a:t>Existing System Drawbacks:</a:t>
            </a:r>
            <a:endParaRPr lang="en-US" sz="24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Paper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automated fine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Book mismanagement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Lack of digital records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5167077-D6A3-E92B-31C9-CDD77835DE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81" y="204654"/>
            <a:ext cx="1689919" cy="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9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>
            <a:extLst>
              <a:ext uri="{FF2B5EF4-FFF2-40B4-BE49-F238E27FC236}">
                <a16:creationId xmlns:a16="http://schemas.microsoft.com/office/drawing/2014/main" id="{7C373EEA-EF6F-3D64-6A97-F4D366F799B5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dirty="0"/>
              <a:t>                             </a:t>
            </a:r>
            <a:r>
              <a:rPr lang="en-IN" sz="2800" dirty="0"/>
              <a:t>OBJECTIVE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01BE1-0C05-DB76-FAB4-F2198F83AC8C}"/>
              </a:ext>
            </a:extLst>
          </p:cNvPr>
          <p:cNvSpPr txBox="1"/>
          <p:nvPr/>
        </p:nvSpPr>
        <p:spPr>
          <a:xfrm>
            <a:off x="1288027" y="1130709"/>
            <a:ext cx="93701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Main Aim:</a:t>
            </a:r>
            <a:br>
              <a:rPr lang="en-US" dirty="0"/>
            </a:br>
            <a:r>
              <a:rPr lang="en-US" sz="2400" dirty="0"/>
              <a:t>To develop a digital library management system for efficient handling of books, users, and transactions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sz="2800" b="1" dirty="0"/>
              <a:t>Specific Objectives: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Automate book issue and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Maintain digital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Track due dates and fines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Provide quick search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 manual workload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0F200FAB-3F00-7B64-A702-97F38E9099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5" y="204654"/>
            <a:ext cx="1714676" cy="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5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>
            <a:extLst>
              <a:ext uri="{FF2B5EF4-FFF2-40B4-BE49-F238E27FC236}">
                <a16:creationId xmlns:a16="http://schemas.microsoft.com/office/drawing/2014/main" id="{24FEC198-453B-FBA2-1366-FA76D59AFCB5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dirty="0"/>
              <a:t>                  </a:t>
            </a:r>
            <a:r>
              <a:rPr lang="en-IN" sz="2800" dirty="0"/>
              <a:t>PROPOSED SYSTEM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B6EB4-348C-5283-79A3-586F7EEE5D4C}"/>
              </a:ext>
            </a:extLst>
          </p:cNvPr>
          <p:cNvSpPr txBox="1"/>
          <p:nvPr/>
        </p:nvSpPr>
        <p:spPr>
          <a:xfrm>
            <a:off x="1002890" y="904568"/>
            <a:ext cx="101272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Overview:</a:t>
            </a:r>
            <a:br>
              <a:rPr lang="en-US" dirty="0"/>
            </a:br>
            <a:r>
              <a:rPr lang="en-US" sz="2400" dirty="0"/>
              <a:t>A web-based application that allows librarians to manage books and users digitally, and enables students to search and borrow books easily.</a:t>
            </a:r>
          </a:p>
          <a:p>
            <a:pPr>
              <a:buNone/>
            </a:pPr>
            <a:r>
              <a:rPr lang="en-US" sz="2400" b="1" dirty="0"/>
              <a:t>How It Solves Problems: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Digital catalog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Automated book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Instant search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Admin control panel</a:t>
            </a:r>
          </a:p>
          <a:p>
            <a:pPr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Faster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Reduced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Easy accessibility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Secure data storage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AC2838CA-869C-D617-E69B-E0BE99E2C3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195" y="202176"/>
            <a:ext cx="1563505" cy="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5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>
            <a:extLst>
              <a:ext uri="{FF2B5EF4-FFF2-40B4-BE49-F238E27FC236}">
                <a16:creationId xmlns:a16="http://schemas.microsoft.com/office/drawing/2014/main" id="{A7618FBD-6968-D12B-E5DA-2E2BAD530765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dirty="0"/>
              <a:t>            </a:t>
            </a:r>
            <a:r>
              <a:rPr lang="en-IN" sz="2800" dirty="0"/>
              <a:t>SYSTEM ARCHITECTURE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C48FF-66C7-5395-7CA4-1D38B8D2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1" y="1750142"/>
            <a:ext cx="4459825" cy="4080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1C7E05-9A5D-371B-FA1C-F03EBF893135}"/>
              </a:ext>
            </a:extLst>
          </p:cNvPr>
          <p:cNvSpPr txBox="1"/>
          <p:nvPr/>
        </p:nvSpPr>
        <p:spPr>
          <a:xfrm>
            <a:off x="5958347" y="1103360"/>
            <a:ext cx="3765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   Student login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72DDA-0C08-6AEC-5705-C64B7ED9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57" y="1750142"/>
            <a:ext cx="3696930" cy="4080388"/>
          </a:xfrm>
          <a:prstGeom prst="rect">
            <a:avLst/>
          </a:prstGeom>
        </p:spPr>
      </p:pic>
      <p:pic>
        <p:nvPicPr>
          <p:cNvPr id="9" name="object 2">
            <a:extLst>
              <a:ext uri="{FF2B5EF4-FFF2-40B4-BE49-F238E27FC236}">
                <a16:creationId xmlns:a16="http://schemas.microsoft.com/office/drawing/2014/main" id="{83B098E1-AE68-024B-B0CB-56DF98AD50B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343" y="310638"/>
            <a:ext cx="1599557" cy="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4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1ADE7-7B15-F185-2A32-C9067980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134" y="1059425"/>
            <a:ext cx="5407743" cy="47391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311E32-06C9-AF0B-7EBE-1B162C83CAFC}"/>
              </a:ext>
            </a:extLst>
          </p:cNvPr>
          <p:cNvSpPr txBox="1"/>
          <p:nvPr/>
        </p:nvSpPr>
        <p:spPr>
          <a:xfrm>
            <a:off x="6381134" y="454431"/>
            <a:ext cx="5810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Student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4800A-F4C7-B318-6D9E-89FD24AF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08" y="1288026"/>
            <a:ext cx="4247535" cy="4655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3C2594-AE3A-D8B3-F8CD-EA17E1A94A6B}"/>
              </a:ext>
            </a:extLst>
          </p:cNvPr>
          <p:cNvSpPr txBox="1"/>
          <p:nvPr/>
        </p:nvSpPr>
        <p:spPr>
          <a:xfrm>
            <a:off x="1071716" y="639097"/>
            <a:ext cx="6115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Borrowing History</a:t>
            </a: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49C4C724-8F94-3CBE-BC3E-DD354DD879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29" y="137508"/>
            <a:ext cx="1286271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9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3286E5-24B7-99CE-FABA-99ED791E9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2" y="1347019"/>
            <a:ext cx="4446701" cy="49013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B4E069-8A49-FCE5-6F0F-4087BE116527}"/>
              </a:ext>
            </a:extLst>
          </p:cNvPr>
          <p:cNvSpPr txBox="1"/>
          <p:nvPr/>
        </p:nvSpPr>
        <p:spPr>
          <a:xfrm>
            <a:off x="658761" y="609601"/>
            <a:ext cx="593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Admin Login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A590E-2D33-72B4-CBAC-42ADB8E96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45" y="1095267"/>
            <a:ext cx="4699819" cy="5153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59E75B-D637-5180-4695-A585D18EB74B}"/>
              </a:ext>
            </a:extLst>
          </p:cNvPr>
          <p:cNvSpPr txBox="1"/>
          <p:nvPr/>
        </p:nvSpPr>
        <p:spPr>
          <a:xfrm>
            <a:off x="6508955" y="34799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Admin Dashboard</a:t>
            </a: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E060FFD6-06DB-057D-CE79-F20FAF154B6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53" y="81078"/>
            <a:ext cx="1522947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07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49415-18EE-B2E6-2074-02F1CB979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1508072"/>
            <a:ext cx="4090219" cy="4155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17429-4495-FB96-0DCC-78A3B2B9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109" y="1508071"/>
            <a:ext cx="4345859" cy="4155309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9C420445-205D-392B-5523-CD60B39089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53" y="81078"/>
            <a:ext cx="2005547" cy="628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D67999-2DCE-1EAB-A47A-4209FDFD827A}"/>
              </a:ext>
            </a:extLst>
          </p:cNvPr>
          <p:cNvSpPr txBox="1"/>
          <p:nvPr/>
        </p:nvSpPr>
        <p:spPr>
          <a:xfrm>
            <a:off x="521109" y="7097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Student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3BEF2-14B3-BE33-E95D-8CED66423231}"/>
              </a:ext>
            </a:extLst>
          </p:cNvPr>
          <p:cNvSpPr txBox="1"/>
          <p:nvPr/>
        </p:nvSpPr>
        <p:spPr>
          <a:xfrm>
            <a:off x="6489290" y="7097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Book Inventory</a:t>
            </a:r>
          </a:p>
        </p:txBody>
      </p:sp>
    </p:spTree>
    <p:extLst>
      <p:ext uri="{BB962C8B-B14F-4D97-AF65-F5344CB8AC3E}">
        <p14:creationId xmlns:p14="http://schemas.microsoft.com/office/powerpoint/2010/main" val="421751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822758D-7989-A7E7-12DA-78C4C4E983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53" y="81078"/>
            <a:ext cx="2005547" cy="628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44C3C4-6D8E-8279-C6E0-DEDED3912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7" y="1590366"/>
            <a:ext cx="4336025" cy="4161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BA7FA-17BC-5B14-699D-12D0FEC4B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18" y="1590365"/>
            <a:ext cx="4513007" cy="4161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37BD69-51CD-04D1-CBB3-86CFD0D35A92}"/>
              </a:ext>
            </a:extLst>
          </p:cNvPr>
          <p:cNvSpPr txBox="1"/>
          <p:nvPr/>
        </p:nvSpPr>
        <p:spPr>
          <a:xfrm>
            <a:off x="619431" y="871706"/>
            <a:ext cx="6154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Borrowings &amp; Returns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E079E-0912-F324-78D1-5D75EFB35836}"/>
              </a:ext>
            </a:extLst>
          </p:cNvPr>
          <p:cNvSpPr txBox="1"/>
          <p:nvPr/>
        </p:nvSpPr>
        <p:spPr>
          <a:xfrm>
            <a:off x="6223818" y="871706"/>
            <a:ext cx="6154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Fine Management</a:t>
            </a:r>
          </a:p>
        </p:txBody>
      </p:sp>
    </p:spTree>
    <p:extLst>
      <p:ext uri="{BB962C8B-B14F-4D97-AF65-F5344CB8AC3E}">
        <p14:creationId xmlns:p14="http://schemas.microsoft.com/office/powerpoint/2010/main" val="99387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4">
            <a:extLst>
              <a:ext uri="{FF2B5EF4-FFF2-40B4-BE49-F238E27FC236}">
                <a16:creationId xmlns:a16="http://schemas.microsoft.com/office/drawing/2014/main" id="{F433750B-5E28-E570-A360-9E3AE8639FE7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sz="2800" dirty="0"/>
              <a:t>               Methodology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CE899-5543-0B1D-E242-38973C4FCD3F}"/>
              </a:ext>
            </a:extLst>
          </p:cNvPr>
          <p:cNvSpPr txBox="1"/>
          <p:nvPr/>
        </p:nvSpPr>
        <p:spPr>
          <a:xfrm>
            <a:off x="1435510" y="1120877"/>
            <a:ext cx="770849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Step-by-Step Process: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User Registration/Login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Search Books by Title/Author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Issue Book Request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Admin Approval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Book Issued &amp; Due Date Generated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Return &amp; Fine Calculation</a:t>
            </a:r>
          </a:p>
          <a:p>
            <a:pPr>
              <a:buNone/>
            </a:pPr>
            <a:r>
              <a:rPr lang="en-US" sz="2400" b="1" dirty="0"/>
              <a:t>Algorithms Used: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Search algorithm (keyword-based search)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Authentication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Fine calculation logic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46BE85D-F0AD-C0B0-DD4E-2100B9BA433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95" y="204654"/>
            <a:ext cx="1927006" cy="55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5129-4267-8F9E-FC64-F06B38815775}"/>
              </a:ext>
            </a:extLst>
          </p:cNvPr>
          <p:cNvSpPr txBox="1"/>
          <p:nvPr/>
        </p:nvSpPr>
        <p:spPr>
          <a:xfrm>
            <a:off x="1091381" y="943897"/>
            <a:ext cx="805261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Software Tools: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GitHub </a:t>
            </a:r>
          </a:p>
          <a:p>
            <a:pPr>
              <a:buNone/>
            </a:pPr>
            <a:r>
              <a:rPr lang="en-IN" sz="2400" b="1" dirty="0"/>
              <a:t>Programming Languages: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Reactjs</a:t>
            </a:r>
            <a:endParaRPr lang="en-IN" sz="2000" dirty="0"/>
          </a:p>
          <a:p>
            <a:pPr>
              <a:buNone/>
            </a:pPr>
            <a:r>
              <a:rPr lang="en-IN" sz="2400" b="1" dirty="0"/>
              <a:t>Frameworks: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sz="2000" dirty="0"/>
              <a:t>Node.js</a:t>
            </a:r>
          </a:p>
          <a:p>
            <a:pPr>
              <a:buNone/>
            </a:pPr>
            <a:r>
              <a:rPr lang="en-IN" sz="2400" b="1" dirty="0"/>
              <a:t>Database: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MySQL </a:t>
            </a:r>
          </a:p>
          <a:p>
            <a:pPr>
              <a:buNone/>
            </a:pPr>
            <a:r>
              <a:rPr lang="en-IN" sz="2400" b="1" dirty="0"/>
              <a:t>Hardware: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Laptop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Internet connection</a:t>
            </a: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AB411834-F31F-A41D-9874-B0C2DF6DE3C8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r>
              <a:rPr lang="en-IN" sz="2800" b="1" dirty="0"/>
              <a:t>  Tools &amp; Technologies Used</a:t>
            </a:r>
            <a:endParaRPr sz="2800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E9279A50-DE06-3E21-5248-61A72CB576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09" y="221841"/>
            <a:ext cx="1643392" cy="5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04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294F97-BA38-7D86-BA33-5341675B1C0E}"/>
              </a:ext>
            </a:extLst>
          </p:cNvPr>
          <p:cNvSpPr txBox="1"/>
          <p:nvPr/>
        </p:nvSpPr>
        <p:spPr>
          <a:xfrm>
            <a:off x="1582993" y="1012723"/>
            <a:ext cx="9148507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 </a:t>
            </a:r>
            <a:r>
              <a:rPr lang="en-US" sz="2800" b="1" dirty="0"/>
              <a:t>Completed Modules: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• Book Management</a:t>
            </a:r>
          </a:p>
          <a:p>
            <a:pPr>
              <a:buNone/>
            </a:pPr>
            <a:r>
              <a:rPr lang="en-US" sz="2400" dirty="0"/>
              <a:t>• User Login System</a:t>
            </a:r>
          </a:p>
          <a:p>
            <a:pPr>
              <a:buNone/>
            </a:pPr>
            <a:r>
              <a:rPr lang="en-US" sz="2400" dirty="0"/>
              <a:t>• Issue / Return Module</a:t>
            </a:r>
          </a:p>
          <a:p>
            <a:pPr>
              <a:buNone/>
            </a:pPr>
            <a:r>
              <a:rPr lang="en-US" sz="2400" dirty="0"/>
              <a:t>• Admin Dashboard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Current Progress: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400" dirty="0"/>
              <a:t>• Project Completion: 100%</a:t>
            </a:r>
            <a:endParaRPr lang="en-IN" sz="2400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1F245413-4458-5839-A0EF-9E8832682347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pPr>
              <a:buNone/>
            </a:pPr>
            <a:r>
              <a:rPr lang="en-IN" sz="2800" b="1" dirty="0"/>
              <a:t>          Implementation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6A63820A-2DF6-B4C1-9AF7-37C0C556D5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704" y="256254"/>
            <a:ext cx="1639296" cy="5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91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23F2C4-ABC5-3AD8-2CA3-7F883A595CB4}"/>
              </a:ext>
            </a:extLst>
          </p:cNvPr>
          <p:cNvSpPr txBox="1"/>
          <p:nvPr/>
        </p:nvSpPr>
        <p:spPr>
          <a:xfrm>
            <a:off x="1862945" y="1771855"/>
            <a:ext cx="75118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Book successfully issued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Due date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Fine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Book availability display</a:t>
            </a: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96F25702-B796-537E-45A2-0F15AE1D069B}"/>
              </a:ext>
            </a:extLst>
          </p:cNvPr>
          <p:cNvSpPr/>
          <p:nvPr/>
        </p:nvSpPr>
        <p:spPr>
          <a:xfrm>
            <a:off x="3214615" y="280875"/>
            <a:ext cx="4808507" cy="476209"/>
          </a:xfrm>
          <a:custGeom>
            <a:avLst/>
            <a:gdLst/>
            <a:ahLst/>
            <a:cxnLst/>
            <a:rect l="l" t="t" r="r" b="b"/>
            <a:pathLst>
              <a:path w="4681220" h="416559">
                <a:moveTo>
                  <a:pt x="4592193" y="0"/>
                </a:moveTo>
                <a:lnTo>
                  <a:pt x="88772" y="0"/>
                </a:lnTo>
                <a:lnTo>
                  <a:pt x="54228" y="5460"/>
                </a:lnTo>
                <a:lnTo>
                  <a:pt x="25907" y="20319"/>
                </a:lnTo>
                <a:lnTo>
                  <a:pt x="6984" y="42417"/>
                </a:lnTo>
                <a:lnTo>
                  <a:pt x="0" y="69468"/>
                </a:lnTo>
                <a:lnTo>
                  <a:pt x="0" y="346963"/>
                </a:lnTo>
                <a:lnTo>
                  <a:pt x="6984" y="374014"/>
                </a:lnTo>
                <a:lnTo>
                  <a:pt x="25907" y="395985"/>
                </a:lnTo>
                <a:lnTo>
                  <a:pt x="54228" y="410844"/>
                </a:lnTo>
                <a:lnTo>
                  <a:pt x="88772" y="416305"/>
                </a:lnTo>
                <a:lnTo>
                  <a:pt x="4592193" y="416305"/>
                </a:lnTo>
                <a:lnTo>
                  <a:pt x="4626864" y="410844"/>
                </a:lnTo>
                <a:lnTo>
                  <a:pt x="4655058" y="395985"/>
                </a:lnTo>
                <a:lnTo>
                  <a:pt x="4673981" y="374014"/>
                </a:lnTo>
                <a:lnTo>
                  <a:pt x="4681093" y="346963"/>
                </a:lnTo>
                <a:lnTo>
                  <a:pt x="4681093" y="69468"/>
                </a:lnTo>
                <a:lnTo>
                  <a:pt x="4673981" y="42417"/>
                </a:lnTo>
                <a:lnTo>
                  <a:pt x="4655058" y="20319"/>
                </a:lnTo>
                <a:lnTo>
                  <a:pt x="4626864" y="5460"/>
                </a:lnTo>
                <a:lnTo>
                  <a:pt x="4592193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pPr>
              <a:buNone/>
            </a:pPr>
            <a:r>
              <a:rPr lang="en-IN" sz="2800" b="1" dirty="0"/>
              <a:t>                  Result/Output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A11A19D9-DC71-0F2E-FC87-B9E08B26DB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239" y="280875"/>
            <a:ext cx="1704961" cy="47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90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9C3007-D245-3764-B09D-99EDB63C27F6}"/>
              </a:ext>
            </a:extLst>
          </p:cNvPr>
          <p:cNvSpPr txBox="1">
            <a:spLocks noGrp="1"/>
          </p:cNvSpPr>
          <p:nvPr/>
        </p:nvSpPr>
        <p:spPr>
          <a:xfrm>
            <a:off x="3883743" y="2556387"/>
            <a:ext cx="418012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E36C09"/>
                </a:solidFill>
                <a:latin typeface="Palatino Linotype"/>
                <a:cs typeface="Palatino Linotype"/>
              </a:rPr>
              <a:t>THANK</a:t>
            </a:r>
            <a:r>
              <a:rPr sz="4800" spc="-190" dirty="0">
                <a:solidFill>
                  <a:srgbClr val="E36C09"/>
                </a:solidFill>
                <a:latin typeface="Palatino Linotype"/>
                <a:cs typeface="Palatino Linotype"/>
              </a:rPr>
              <a:t> </a:t>
            </a:r>
            <a:r>
              <a:rPr sz="4800" spc="-25" dirty="0">
                <a:solidFill>
                  <a:srgbClr val="E36C09"/>
                </a:solidFill>
                <a:latin typeface="Palatino Linotype"/>
                <a:cs typeface="Palatino Linotype"/>
              </a:rPr>
              <a:t>YOU</a:t>
            </a:r>
            <a:endParaRPr sz="4800">
              <a:latin typeface="Palatino Linotype"/>
              <a:cs typeface="Palatino Linotype"/>
            </a:endParaRPr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B254FA6C-8C91-416C-3761-D912B04526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381" y="135501"/>
            <a:ext cx="181873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0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368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Palatino Linotype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sana sanju</dc:creator>
  <cp:lastModifiedBy>24B11IT097</cp:lastModifiedBy>
  <cp:revision>5</cp:revision>
  <dcterms:created xsi:type="dcterms:W3CDTF">2026-03-01T14:35:15Z</dcterms:created>
  <dcterms:modified xsi:type="dcterms:W3CDTF">2026-03-06T05:56:49Z</dcterms:modified>
</cp:coreProperties>
</file>